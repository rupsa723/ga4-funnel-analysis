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Sessions</c:v>
                </c:pt>
              </c:strCache>
            </c:strRef>
          </c:tx>
          <c:spPr>
            <a:solidFill>
              <a:srgbClr val="2D4A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465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Nov 2020</c:v>
                  </c:pt>
                  <c:pt idx="1">
                    <c:v>Dec 2020</c:v>
                  </c:pt>
                  <c:pt idx="2">
                    <c:v>Jan 2021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2188</c:v>
                </c:pt>
                <c:pt idx="1">
                  <c:v>8325</c:v>
                </c:pt>
                <c:pt idx="2">
                  <c:v>17505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6465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4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52B5A8"/>
          </a:solidFill>
          <a:ln w="12700">
            <a:solidFill>
              <a:srgbClr val="52B5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3152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Digital Marketing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474720" y="137160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Analysis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474720" y="2011680"/>
            <a:ext cx="5303520" cy="36576"/>
          </a:xfrm>
          <a:prstGeom prst="rect">
            <a:avLst/>
          </a:prstGeom>
          <a:solidFill>
            <a:srgbClr val="52B5A8"/>
          </a:solidFill>
          <a:ln w="12700">
            <a:solidFill>
              <a:srgbClr val="52B5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0" y="212140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Merchandise Store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0" y="25146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2020 – Jan 2021  |  BigQuery Public Dataset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0" y="30175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</a:t>
            </a:r>
            <a:pPr indent="0" marL="0">
              <a:buNone/>
            </a:pPr>
            <a:r>
              <a:rPr lang="en-US" sz="11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SQL  →  Python  →  Power BI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0" y="34290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Question: </a:t>
            </a:r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channels drive revenue and where is the funnel leaking?"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74720" y="43891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Rupsa Chaudhuri  |  Data Analyst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6400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274320" y="13258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data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" y="19202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28,018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274320" y="2514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analysed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" y="30175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2B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274320" y="36118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queries written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Analysis Covers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the data from traffic acquisition through to product purchase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Funnel Analysis | Google Merchandise Store | Nov 2020 – Jan 2021 | Rupsa Chaudhuri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25603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73152" cy="146304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18872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38912" y="1572768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Drop-off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" y="1901952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are the 99.29% of visitors who don't buy dropping off?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08960" y="1097280"/>
            <a:ext cx="25603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08960" y="1097280"/>
            <a:ext cx="73152" cy="1463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73552" y="118872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273552" y="1572768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Performance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73552" y="1901952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marketing channels actually drive revenue vs just traffic?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0" y="1097280"/>
            <a:ext cx="25603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43600" y="1097280"/>
            <a:ext cx="73152" cy="1463040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08192" y="118872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108192" y="1572768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Quality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08192" y="1901952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grew 8x in 3 months — but is that actually a good thing?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691640" y="3017520"/>
            <a:ext cx="25603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691640" y="3017520"/>
            <a:ext cx="73152" cy="14630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56232" y="310896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856232" y="3493008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Behaviour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856232" y="3822192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vs returning users, bounce rate, and who's actually engaging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26280" y="3017520"/>
            <a:ext cx="25603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26280" y="3017520"/>
            <a:ext cx="73152" cy="1463040"/>
          </a:xfrm>
          <a:prstGeom prst="rect">
            <a:avLst/>
          </a:prstGeom>
          <a:solidFill>
            <a:srgbClr val="52B5A8"/>
          </a:solidFill>
          <a:ln w="12700">
            <a:solidFill>
              <a:srgbClr val="52B5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90872" y="310896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2B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690872" y="3493008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Performance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90872" y="3822192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selling, what's not, and where the revenue concentration risk lies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Headlines — 3 Months of Data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digging in, here's what the Google Merchandise Store achieved Nov 2020 – Jan 2021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Funnel Analysis | Google Merchandise Store | Nov 2020 – Jan 2021 | Rupsa Chaudhuri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265176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" y="1143000"/>
            <a:ext cx="2560320" cy="8220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28,018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0040" y="1930298"/>
            <a:ext cx="2560320" cy="4535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Sessions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1051560"/>
            <a:ext cx="265176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0" y="1143000"/>
            <a:ext cx="2560320" cy="8220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200400" y="1930298"/>
            <a:ext cx="2560320" cy="4535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Purchases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5176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143000"/>
            <a:ext cx="2560320" cy="8220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$10,804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080760" y="1930298"/>
            <a:ext cx="2560320" cy="4535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697480"/>
            <a:ext cx="265176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0040" y="2788920"/>
            <a:ext cx="2560320" cy="8220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20040" y="3576218"/>
            <a:ext cx="2560320" cy="4535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54680" y="2697480"/>
            <a:ext cx="265176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200400" y="2788920"/>
            <a:ext cx="2560320" cy="8220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$0.39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3200400" y="3576218"/>
            <a:ext cx="2560320" cy="4535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Session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35040" y="2697480"/>
            <a:ext cx="265176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080760" y="2788920"/>
            <a:ext cx="2560320" cy="8220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$54.57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080760" y="3576218"/>
            <a:ext cx="2560320" cy="4535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Value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4251960"/>
            <a:ext cx="8595360" cy="548640"/>
          </a:xfrm>
          <a:prstGeom prst="rect">
            <a:avLst/>
          </a:prstGeom>
          <a:solidFill>
            <a:srgbClr val="EBF4FB"/>
          </a:solidFill>
          <a:ln w="6350">
            <a:solidFill>
              <a:srgbClr val="52B5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297680"/>
            <a:ext cx="8375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198 out of 28,018 sessions resulted in a purchase — that's 7 in every 1,000 visitors. The 99.29% who didn't buy is where this analysis focuses.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— 83% of Visitors Never See a Product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Start is excluded from chart below — the 83.2% drop to View Item makes lower stages unreadable at the same scale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Funnel Analysis | Google Merchandise Store | Nov 2020 – Jan 2021 | Rupsa Chaudhuri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74320" y="10515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Item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011680" y="1097280"/>
            <a:ext cx="4114800" cy="38404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051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4,691   (16.81% of sessions)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28216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Cart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11680" y="1773936"/>
            <a:ext cx="711384" cy="384048"/>
          </a:xfrm>
          <a:prstGeom prst="rect">
            <a:avLst/>
          </a:prstGeom>
          <a:solidFill>
            <a:srgbClr val="52B5A8"/>
          </a:solidFill>
          <a:ln w="12700">
            <a:solidFill>
              <a:srgbClr val="52B5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4504" y="172821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811   (2.91% of sessions)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2404872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Checkout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11680" y="2450592"/>
            <a:ext cx="426304" cy="384048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29424" y="240487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486   (1.74% of sessions)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" y="3081528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Info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011680" y="3127248"/>
            <a:ext cx="261396" cy="38404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64516" y="308152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  (1.07% of sessions)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4320" y="3758184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173679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76799" y="3758184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   (0.71% of sessions)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960120"/>
            <a:ext cx="3840480" cy="10972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8686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Start: 27,901  ↓ 83.2% drop to View Item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943600" y="1005840"/>
            <a:ext cx="292608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035040" y="10515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Drop-off Rates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1463040"/>
            <a:ext cx="2194560" cy="411480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149047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Start → View Item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080760" y="166420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35040" y="2057400"/>
            <a:ext cx="2194560" cy="411480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80760" y="208483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Item → Add to Cart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080760" y="22585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82.7%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2651760"/>
            <a:ext cx="2194560" cy="411480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80760" y="26791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Cart → Checkout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080760" y="285292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40.1%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035040" y="3246120"/>
            <a:ext cx="2194560" cy="411480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80760" y="327355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→ Payment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080760" y="344728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38.7%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035040" y="3840480"/>
            <a:ext cx="2194560" cy="411480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80760" y="386791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→ Purchase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080760" y="404164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33.6%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274320" y="4315968"/>
            <a:ext cx="5486400" cy="548640"/>
          </a:xfrm>
          <a:prstGeom prst="rect">
            <a:avLst/>
          </a:prstGeom>
          <a:solidFill>
            <a:srgbClr val="EBF4FB"/>
          </a:solidFill>
          <a:ln w="6350">
            <a:solidFill>
              <a:srgbClr val="52B5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4048" y="4361688"/>
            <a:ext cx="52669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shopping funnel starts at View Item — only 16.81% of sessions get there. Once they do, the drop-offs are more moderate and actionable.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Performance — Quality Beats Volume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Excluding Unknown (26,054 sessions, 0% channel coverage) and Obfuscated channels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Funnel Analysis | Google Merchandise Store | Nov 2020 – Jan 2021 | Rupsa Chaudhuri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1645920" cy="34747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058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920240" y="1005840"/>
            <a:ext cx="914400" cy="34747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65960" y="100584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834640" y="1005840"/>
            <a:ext cx="914400" cy="34747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0360" y="100584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749040" y="1005840"/>
            <a:ext cx="914400" cy="34747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94760" y="100584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1005840" cy="34747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100584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Rev/Session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0" y="1005840"/>
            <a:ext cx="731520" cy="34747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15000" y="100584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CVR%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1389888"/>
            <a:ext cx="164592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138988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Self-Referral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920240" y="1389888"/>
            <a:ext cx="91440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65960" y="1389888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1,222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834640" y="1389888"/>
            <a:ext cx="91440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80360" y="1389888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749040" y="1389888"/>
            <a:ext cx="91440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94760" y="1389888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$5,380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1389888"/>
            <a:ext cx="100584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1389888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$4.4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0" y="1389888"/>
            <a:ext cx="73152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15000" y="1389888"/>
            <a:ext cx="640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537960" y="138988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Google ecosystem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1828800"/>
            <a:ext cx="164592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18288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Organic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920240" y="1828800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65960" y="1828800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834640" y="1828800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880360" y="1828800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749040" y="1828800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794760" y="1828800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$1,002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63440" y="1828800"/>
            <a:ext cx="10058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828800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$3.27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0" y="1828800"/>
            <a:ext cx="73152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15000" y="1828800"/>
            <a:ext cx="640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9.8%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537960" y="18288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real channel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2267712"/>
            <a:ext cx="164592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2677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1920240" y="2267712"/>
            <a:ext cx="91440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65960" y="2267712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2834640" y="2267712"/>
            <a:ext cx="91440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880360" y="2267712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749040" y="2267712"/>
            <a:ext cx="91440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94760" y="2267712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$2,146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663440" y="2267712"/>
            <a:ext cx="100584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09160" y="2267712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$21.9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0" y="2267712"/>
            <a:ext cx="73152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15000" y="2267712"/>
            <a:ext cx="640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6537960" y="226771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gem — best quality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74320" y="2706624"/>
            <a:ext cx="164592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0040" y="2706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920240" y="2706624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965960" y="2706624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2834640" y="2706624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880360" y="2706624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3749040" y="2706624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794760" y="2706624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$425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663440" y="2706624"/>
            <a:ext cx="10058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709160" y="2706624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$2.87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669280" y="2706624"/>
            <a:ext cx="73152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715000" y="2706624"/>
            <a:ext cx="640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7.4%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274320" y="3145536"/>
            <a:ext cx="164592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" y="314553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Paid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920240" y="3145536"/>
            <a:ext cx="91440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965960" y="3145536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2834640" y="3145536"/>
            <a:ext cx="91440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880360" y="3145536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749040" y="3145536"/>
            <a:ext cx="91440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794760" y="3145536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4663440" y="3145536"/>
            <a:ext cx="100584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709160" y="3145536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669280" y="3145536"/>
            <a:ext cx="731520" cy="402336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715000" y="3145536"/>
            <a:ext cx="640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11.5%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6537960" y="31455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$40 total — underperforming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274320" y="3703320"/>
            <a:ext cx="4206240" cy="777240"/>
          </a:xfrm>
          <a:prstGeom prst="rect">
            <a:avLst/>
          </a:prstGeom>
          <a:solidFill>
            <a:srgbClr val="E8F8F5"/>
          </a:solidFill>
          <a:ln w="6350">
            <a:solidFill>
              <a:srgbClr val="2A9D8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11480" y="37490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Referral: $21.90 / session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411480" y="4005072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14x more valuable per visit than Google Paid. Only 98 sessions but $2,146 revenue.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4663440" y="3703320"/>
            <a:ext cx="4206240" cy="777240"/>
          </a:xfrm>
          <a:prstGeom prst="rect">
            <a:avLst/>
          </a:prstGeom>
          <a:solidFill>
            <a:srgbClr val="FDECEA"/>
          </a:solidFill>
          <a:ln w="6350">
            <a:solidFill>
              <a:srgbClr val="E76F5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800600" y="37490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Paid: $40 total revenue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4800600" y="4005072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11.54% CVR but only 3 purchases — statistically insignificant. Worst revenue per session at $1.54.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Grew 8x — But Quality Fell 32%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Month-over-month sessions, CVR%, and revenue per session — Nov 2020 to Jan 2021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Funnel Analysis | Google Merchandise Store | Nov 2020 – Jan 2021 | Rupsa Chaudhuri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005840"/>
          <a:ext cx="5303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274320" y="395020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Sessions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852160" y="1005840"/>
            <a:ext cx="960120" cy="29260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52160" y="100584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2020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852160" y="1325880"/>
            <a:ext cx="96012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88736" y="132588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5888736" y="1490472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2,188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852160" y="1709928"/>
            <a:ext cx="9601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88736" y="170992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%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888736" y="187452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852160" y="2093976"/>
            <a:ext cx="96012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888736" y="2093976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Rev/Session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888736" y="22585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$0.68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903720" y="1005840"/>
            <a:ext cx="960120" cy="29260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03720" y="100584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2020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903720" y="1325880"/>
            <a:ext cx="96012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940296" y="132588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6940296" y="1490472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8,325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903720" y="1709928"/>
            <a:ext cx="9601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0296" y="170992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%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6940296" y="187452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0.76%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903720" y="2093976"/>
            <a:ext cx="96012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40296" y="2093976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Rev/Session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940296" y="22585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$0.64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7955280" y="1005840"/>
            <a:ext cx="960120" cy="29260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100584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2021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955280" y="1325880"/>
            <a:ext cx="96012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91856" y="132588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991856" y="1490472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17,505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7955280" y="1709928"/>
            <a:ext cx="9601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991856" y="170992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%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991856" y="187452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0.65%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955280" y="2093976"/>
            <a:ext cx="96012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D1D9E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991856" y="2093976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Rev/Session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991856" y="22585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$0.23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5852160" y="3520440"/>
            <a:ext cx="3063240" cy="658368"/>
          </a:xfrm>
          <a:prstGeom prst="rect">
            <a:avLst/>
          </a:prstGeom>
          <a:solidFill>
            <a:srgbClr val="FDECEA"/>
          </a:solidFill>
          <a:ln w="6350">
            <a:solidFill>
              <a:srgbClr val="E76F51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943600" y="35661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32% CVR  </a:t>
            </a:r>
            <a:pPr algn="ctr"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↓ 66% Rev/Session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5943600" y="38404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declining as volume grows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274320" y="4279392"/>
            <a:ext cx="8595360" cy="548640"/>
          </a:xfrm>
          <a:prstGeom prst="rect">
            <a:avLst/>
          </a:prstGeom>
          <a:solidFill>
            <a:srgbClr val="EBF4FB"/>
          </a:solidFill>
          <a:ln w="6350">
            <a:solidFill>
              <a:srgbClr val="52B5A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384048" y="4325112"/>
            <a:ext cx="8375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brought 17,505 sessions — 8x November. But revenue per session collapsed from $0.68 to $0.23. Post-holiday traffic is high-volume but low-intent. Growing sessions ≠ growing revenue.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vs Returning — A Tale of Two Audiences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Approximated using session count per user: 1 session = New, 2+ sessions = Returning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Funnel Analysis | Google Merchandise Store | Nov 2020 – Jan 2021 | Rupsa Chaudhuri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41148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05840"/>
            <a:ext cx="4114800" cy="384048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058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Users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148132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48132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22,730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19202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23591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/ Session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86000" y="23591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1480" y="2798064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279806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$6,546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3474720"/>
            <a:ext cx="3931920" cy="36576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4787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of sessions, 61% of revenue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1005840"/>
            <a:ext cx="41148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005840"/>
            <a:ext cx="4114800" cy="38404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10058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Users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00600" y="148132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0" y="148132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5,418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19202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00600" y="23591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/ Session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0" y="23591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$0.79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800600" y="2798064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279806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$4,258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754880" y="3474720"/>
            <a:ext cx="3931920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54787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 of sessions, 39% of revenue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315968"/>
            <a:ext cx="8595360" cy="566928"/>
          </a:xfrm>
          <a:prstGeom prst="rect">
            <a:avLst/>
          </a:prstGeom>
          <a:solidFill>
            <a:srgbClr val="E8F8F5"/>
          </a:solidFill>
          <a:ln w="6350">
            <a:solidFill>
              <a:srgbClr val="2A9D8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" y="4352544"/>
            <a:ext cx="8321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users are 2x more likely to purchase (1.18% vs 0.59% CVR) </a:t>
            </a:r>
            <a:pPr indent="0" marL="0">
              <a:buNone/>
            </a:pPr>
            <a:r>
              <a:rPr lang="en-US" sz="10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generate 2.7x more revenue per session ($0.79 vs $0.29). </a:t>
            </a:r>
            <a:pPr indent="0" marL="0">
              <a:buNone/>
            </a:pPr>
            <a:r>
              <a:rPr lang="en-US" sz="10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81% of traffic is first-time visitors — retention is severely underinvested.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— 82% of Sessions Fire Just One Event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devices and markets, pointing to a traffic quality issue rather than a UX problem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Funnel Analysis | Google Merchandise Store | Nov 2020 – Jan 2021 | Rupsa Chaudhuri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2194560" cy="201168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18872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82.29%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74320" y="20116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57860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23,055 of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28,018 sessions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51760" y="1005840"/>
            <a:ext cx="310896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0" y="1051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by Device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14173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49040" y="1463040"/>
            <a:ext cx="1280160" cy="256032"/>
          </a:xfrm>
          <a:prstGeom prst="rect">
            <a:avLst/>
          </a:prstGeom>
          <a:solidFill>
            <a:srgbClr val="52B5A8"/>
          </a:solidFill>
          <a:ln w="12700">
            <a:solidFill>
              <a:srgbClr val="52B5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146304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82.87%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4920" y="141732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16,388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743200" y="189280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49040" y="1938528"/>
            <a:ext cx="1280160" cy="256032"/>
          </a:xfrm>
          <a:prstGeom prst="rect">
            <a:avLst/>
          </a:prstGeom>
          <a:solidFill>
            <a:srgbClr val="52B5A8"/>
          </a:solidFill>
          <a:ln w="12700">
            <a:solidFill>
              <a:srgbClr val="52B5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49040" y="19385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82.67%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74920" y="1892808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11,113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743200" y="236829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749040" y="2414016"/>
            <a:ext cx="1280160" cy="256032"/>
          </a:xfrm>
          <a:prstGeom prst="rect">
            <a:avLst/>
          </a:prstGeom>
          <a:solidFill>
            <a:srgbClr val="52B5A8"/>
          </a:solidFill>
          <a:ln w="12700">
            <a:solidFill>
              <a:srgbClr val="52B5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241401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82.52%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74920" y="2368296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698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943600" y="1005840"/>
            <a:ext cx="292608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10515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Markets by Sessions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89320" y="1371600"/>
            <a:ext cx="2834640" cy="25603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0" y="13716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150608" y="13716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08976" y="13716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Bounce%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67344" y="1371600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9320" y="1664208"/>
            <a:ext cx="2834640" cy="301752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35040" y="1709928"/>
            <a:ext cx="10972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150608" y="1709928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12,419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808976" y="1709928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82.59%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67344" y="1709928"/>
            <a:ext cx="3200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0.64%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989320" y="1993392"/>
            <a:ext cx="2834640" cy="301752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0" y="2039112"/>
            <a:ext cx="10972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150608" y="2039112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2,686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08976" y="2039112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83.88%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467344" y="2039112"/>
            <a:ext cx="3200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0.78%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989320" y="2322576"/>
            <a:ext cx="2834640" cy="301752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35040" y="2368296"/>
            <a:ext cx="10972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150608" y="2368296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2,112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808976" y="2368296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84.23%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467344" y="2368296"/>
            <a:ext cx="3200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989320" y="2651760"/>
            <a:ext cx="2834640" cy="301752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35040" y="2697480"/>
            <a:ext cx="10972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150608" y="2697480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808976" y="2697480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84.21%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8467344" y="2697480"/>
            <a:ext cx="3200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0.56%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989320" y="2980944"/>
            <a:ext cx="2834640" cy="301752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0" y="3026664"/>
            <a:ext cx="10972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150608" y="3026664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549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808976" y="3026664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81.60%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467344" y="3026664"/>
            <a:ext cx="3200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0.73%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989320" y="3310128"/>
            <a:ext cx="2834640" cy="301752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35040" y="3355848"/>
            <a:ext cx="10972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150608" y="3355848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542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7808976" y="3355848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83.39%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8467344" y="3355848"/>
            <a:ext cx="3200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0.55%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5989320" y="3639312"/>
            <a:ext cx="2834640" cy="301752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035040" y="3685032"/>
            <a:ext cx="10972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7150608" y="3685032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490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808976" y="3685032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80.61%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8467344" y="3685032"/>
            <a:ext cx="3200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0.61%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989320" y="3968496"/>
            <a:ext cx="2834640" cy="301752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35040" y="4014216"/>
            <a:ext cx="10972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7150608" y="4014216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7808976" y="4014216"/>
            <a:ext cx="640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83.79%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8467344" y="4014216"/>
            <a:ext cx="3200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1.37%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035040" y="42976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Italy: 409 sessions, $0 revenue — investigate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274320" y="4297680"/>
            <a:ext cx="4572000" cy="566928"/>
          </a:xfrm>
          <a:prstGeom prst="rect">
            <a:avLst/>
          </a:prstGeom>
          <a:solidFill>
            <a:srgbClr val="EBF4FB"/>
          </a:solidFill>
          <a:ln w="6350">
            <a:solidFill>
              <a:srgbClr val="52B5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84048" y="4343400"/>
            <a:ext cx="43525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is virtually identical across desktop (82.87%), mobile (82.67%), and tablet (82.52%). This is not a mobile UX issue — it's a traffic quality issue.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Performance — Apparel Dominates Everything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 of total revenue from one category is a concentration risk worth addressing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Funnel Analysis | Google Merchandise Store | Nov 2020 – Jan 2021 | Rupsa Chaudhuri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402336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51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Categories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371600"/>
            <a:ext cx="1371600" cy="29260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371600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691640" y="1371600"/>
            <a:ext cx="1005840" cy="29260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19072" y="1371600"/>
            <a:ext cx="9509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97480" y="1371600"/>
            <a:ext cx="731520" cy="29260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24912" y="1371600"/>
            <a:ext cx="6766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429000" y="1371600"/>
            <a:ext cx="731520" cy="29260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56432" y="1371600"/>
            <a:ext cx="6766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AOV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0040" y="1691640"/>
            <a:ext cx="1371600" cy="365760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616" y="1691640"/>
            <a:ext cx="129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91640" y="1691640"/>
            <a:ext cx="1005840" cy="365760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28216" y="1691640"/>
            <a:ext cx="932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$171,727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97480" y="1691640"/>
            <a:ext cx="731520" cy="365760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34056" y="1691640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4,984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29000" y="1691640"/>
            <a:ext cx="731520" cy="365760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65576" y="1691640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$34.46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2084832"/>
            <a:ext cx="1371600" cy="365760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6616" y="2084832"/>
            <a:ext cx="129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691640" y="2084832"/>
            <a:ext cx="1005840" cy="365760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28216" y="2084832"/>
            <a:ext cx="932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$25,813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697480" y="2084832"/>
            <a:ext cx="731520" cy="365760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34056" y="2084832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29000" y="2084832"/>
            <a:ext cx="731520" cy="365760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65576" y="2084832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$17.86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0040" y="2478024"/>
            <a:ext cx="1371600" cy="365760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6616" y="2478024"/>
            <a:ext cx="129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691640" y="2478024"/>
            <a:ext cx="1005840" cy="365760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28216" y="2478024"/>
            <a:ext cx="932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$23,860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697480" y="2478024"/>
            <a:ext cx="731520" cy="365760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34056" y="2478024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704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29000" y="2478024"/>
            <a:ext cx="731520" cy="365760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5576" y="2478024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$33.89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0040" y="2871216"/>
            <a:ext cx="1371600" cy="365760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6616" y="2871216"/>
            <a:ext cx="129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Coll.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691640" y="2871216"/>
            <a:ext cx="1005840" cy="365760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728216" y="2871216"/>
            <a:ext cx="932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$20,061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97480" y="2871216"/>
            <a:ext cx="731520" cy="365760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734056" y="2871216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1,497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29000" y="2871216"/>
            <a:ext cx="731520" cy="365760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5576" y="2871216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$13.40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0040" y="3264408"/>
            <a:ext cx="1371600" cy="365760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6616" y="3264408"/>
            <a:ext cx="129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Accessories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691640" y="3264408"/>
            <a:ext cx="1005840" cy="365760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728216" y="3264408"/>
            <a:ext cx="932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$17,815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697480" y="3264408"/>
            <a:ext cx="731520" cy="365760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734056" y="3264408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1,276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429000" y="3264408"/>
            <a:ext cx="731520" cy="365760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65576" y="3264408"/>
            <a:ext cx="658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$13.96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480560" y="1005840"/>
            <a:ext cx="438912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4572000" y="10515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Products by Revenue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0" y="1417320"/>
            <a:ext cx="4206240" cy="402336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17720" y="145389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Zip Hoodie F/C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6903720" y="1508760"/>
            <a:ext cx="1737360" cy="2286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903720" y="14538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$13,788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572000" y="1874520"/>
            <a:ext cx="4206240" cy="402336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17720" y="191109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Crewneck Sweatshirt Navy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6903720" y="1965960"/>
            <a:ext cx="1350020" cy="2286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03720" y="19110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$10,714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572000" y="2331720"/>
            <a:ext cx="4206240" cy="402336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617720" y="236829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Men's Tech Fleece Grey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903720" y="2423160"/>
            <a:ext cx="1255642" cy="2286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903720" y="2368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$9,965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572000" y="2788920"/>
            <a:ext cx="4206240" cy="402336"/>
          </a:xfrm>
          <a:prstGeom prst="rect">
            <a:avLst/>
          </a:prstGeom>
          <a:solidFill>
            <a:srgbClr val="FFFFFF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617720" y="282549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Badge Heavyweight Pullover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6903720" y="2880360"/>
            <a:ext cx="1223763" cy="2286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903720" y="28254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$9,712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572000" y="3246120"/>
            <a:ext cx="4206240" cy="402336"/>
          </a:xfrm>
          <a:prstGeom prst="rect">
            <a:avLst/>
          </a:prstGeom>
          <a:solidFill>
            <a:srgbClr val="F0F4F8"/>
          </a:solidFill>
          <a:ln w="2540">
            <a:solidFill>
              <a:srgbClr val="D1D9E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617720" y="328269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G Unisex Joggers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6903720" y="3337560"/>
            <a:ext cx="1200704" cy="2286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903720" y="32826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$9,529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274320" y="3913632"/>
            <a:ext cx="85953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65760" y="3931920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Apparel monthly trend: </a:t>
            </a:r>
            <a:pPr indent="0" marL="0">
              <a:buNone/>
            </a:pPr>
            <a:r>
              <a:rPr lang="en-US" sz="10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$75,070 (Nov)  →  $66,962 (Dec)  →  $29,695 (Jan)  </a:t>
            </a:r>
            <a:pPr indent="0" marL="0">
              <a:buNone/>
            </a:pPr>
            <a:r>
              <a:rPr lang="en-US" sz="10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60% revenue collapse post-holiday. Other categories remained stable.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274320" y="4425696"/>
            <a:ext cx="8595360" cy="457200"/>
          </a:xfrm>
          <a:prstGeom prst="rect">
            <a:avLst/>
          </a:prstGeom>
          <a:solidFill>
            <a:srgbClr val="EBF4FB"/>
          </a:solidFill>
          <a:ln w="6350">
            <a:solidFill>
              <a:srgbClr val="52B5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84048" y="4471416"/>
            <a:ext cx="83759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top 10 products are Apparel. Every channel is Apparel-dominated. Google Paid drives zero Apparel sales — missing the highest-value category entirely.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Things This Data Is Telling 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summary of the most actionable findings across funnel, channel, audience, and product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Funnel Analysis | Google Merchandise Store | Nov 2020 – Jan 2021 | Rupsa Chaudhuri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4206240" cy="6858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51560"/>
            <a:ext cx="411480" cy="685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051560"/>
            <a:ext cx="411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58952" y="1106424"/>
            <a:ext cx="364845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is 0.71% — only 7 in every 1,000 sessions buy. The biggest leak is at View Item (83.2% drop).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274320" y="1819656"/>
            <a:ext cx="4206240" cy="6858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819656"/>
            <a:ext cx="411480" cy="6858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819656"/>
            <a:ext cx="411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58952" y="1874520"/>
            <a:ext cx="364845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traffic generates $21.90 per session — 14x more than Google Paid ($1.54). Scale it.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74320" y="2587752"/>
            <a:ext cx="4206240" cy="6858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587752"/>
            <a:ext cx="411480" cy="685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587752"/>
            <a:ext cx="411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58952" y="2642616"/>
            <a:ext cx="364845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Paid: $40 total revenue from 26 sessions across 3 months. Needs urgent review.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74320" y="3355848"/>
            <a:ext cx="4206240" cy="6858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355848"/>
            <a:ext cx="411480" cy="685800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355848"/>
            <a:ext cx="411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58952" y="3410712"/>
            <a:ext cx="364845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grew 8x but CVR fell from 0.96% to 0.65%. January traffic is low-intent noise.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4320" y="4123944"/>
            <a:ext cx="4206240" cy="6858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4123944"/>
            <a:ext cx="411480" cy="6858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123944"/>
            <a:ext cx="411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" y="4178808"/>
            <a:ext cx="364845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is ~82% across all devices. Not a mobile UX problem — it's traffic quality.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4709160" y="1051560"/>
            <a:ext cx="4206240" cy="6858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1051560"/>
            <a:ext cx="411480" cy="6858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1051560"/>
            <a:ext cx="411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93792" y="1106424"/>
            <a:ext cx="364845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users: 2x CVR, 2.7x revenue per session. 81% of traffic is new users — retention underinvested.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4709160" y="1819656"/>
            <a:ext cx="4206240" cy="6858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09160" y="1819656"/>
            <a:ext cx="411480" cy="685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819656"/>
            <a:ext cx="411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193792" y="1874520"/>
            <a:ext cx="364845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Apparel = 47% of revenue and heavily seasonal. Revenue fell 60% Nov to Jan.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4709160" y="2587752"/>
            <a:ext cx="4206240" cy="6858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09160" y="2587752"/>
            <a:ext cx="411480" cy="685800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09160" y="2587752"/>
            <a:ext cx="411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193792" y="2642616"/>
            <a:ext cx="364845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channel: 59% drop at payment stage — payment friction is the biggest checkout problem.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4709160" y="3355848"/>
            <a:ext cx="4206240" cy="6858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09160" y="3355848"/>
            <a:ext cx="411480" cy="685800"/>
          </a:xfrm>
          <a:prstGeom prst="rect">
            <a:avLst/>
          </a:prstGeom>
          <a:solidFill>
            <a:srgbClr val="6B7C8D"/>
          </a:solidFill>
          <a:ln w="12700">
            <a:solidFill>
              <a:srgbClr val="6B7C8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3355848"/>
            <a:ext cx="411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193792" y="3410712"/>
            <a:ext cx="364845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Italy: 409 sessions, $0 revenue. Either tracking is broken or shipping is blocked.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4709160" y="4123944"/>
            <a:ext cx="4206240" cy="6858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709160" y="4123944"/>
            <a:ext cx="411480" cy="6858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4123944"/>
            <a:ext cx="411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193792" y="4178808"/>
            <a:ext cx="364845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Bags ($33.89 AOV) and Apparel ($34.46 AOV) are high-value. Campus Collection is high volume, low price.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Worth Testing Right Now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the data — not guesswork. Each has a clear hypothesis and measurable outcome.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Funnel Analysis | Google Merchandise Store | Nov 2020 – Jan 2021 | Rupsa Chaudhuri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274320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24128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 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5087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View Item → Add to Cart Drop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029968"/>
            <a:ext cx="2560320" cy="27432"/>
          </a:xfrm>
          <a:prstGeom prst="rect">
            <a:avLst/>
          </a:prstGeom>
          <a:solidFill>
            <a:srgbClr val="D1D9E0"/>
          </a:solidFill>
          <a:ln w="12700">
            <a:solidFill>
              <a:srgbClr val="D1D9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1031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331720"/>
            <a:ext cx="2560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82.7% of users who view a product don't add it to cart. Hypothesis: adding urgency signals (low stock, limited time) on product pages will increase ATC rate.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3602736"/>
            <a:ext cx="2560320" cy="256032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60273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ATC rate from 17.3% → 22%+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38862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Medium  |  Impact: High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274320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0" y="1005840"/>
            <a:ext cx="2743200" cy="457200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024128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 02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15087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Direct Channel Payment Abandonment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2029968"/>
            <a:ext cx="2560320" cy="27432"/>
          </a:xfrm>
          <a:prstGeom prst="rect">
            <a:avLst/>
          </a:prstGeom>
          <a:solidFill>
            <a:srgbClr val="D1D9E0"/>
          </a:solidFill>
          <a:ln w="12700">
            <a:solidFill>
              <a:srgbClr val="D1D9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21031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91840" y="2331720"/>
            <a:ext cx="2560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traffic drops 59.3% at Payment Info → Purchase. Hypothesis: adding trust signals (security badges, money-back guarantee) at payment will reduce drop-off.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0" y="3602736"/>
            <a:ext cx="2560320" cy="256032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37560" y="360273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Payment → Purchase from 40.7% → 50%+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291840" y="38862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Low  |  Impact: High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26480" y="1005840"/>
            <a:ext cx="274320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26480" y="1005840"/>
            <a:ext cx="2743200" cy="4572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1024128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03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15087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Retention — Email/Loyalty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2029968"/>
            <a:ext cx="2560320" cy="27432"/>
          </a:xfrm>
          <a:prstGeom prst="rect">
            <a:avLst/>
          </a:prstGeom>
          <a:solidFill>
            <a:srgbClr val="D1D9E0"/>
          </a:solidFill>
          <a:ln w="12700">
            <a:solidFill>
              <a:srgbClr val="D1D9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0" y="21031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217920" y="2331720"/>
            <a:ext cx="2560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6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users have 2x CVR and 2.7x revenue per session. A basic email remarketing sequence targeting first-time buyers could meaningfully shift the new/returning ratio.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602736"/>
            <a:ext cx="256032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63640" y="360273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Returning user sessions from 19% → 25% of traffic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217920" y="38862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Medium  |  Impact: Very High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4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0"/>
            <a:ext cx="73152" cy="5143500"/>
          </a:xfrm>
          <a:prstGeom prst="rect">
            <a:avLst/>
          </a:prstGeom>
          <a:solidFill>
            <a:srgbClr val="52B5A8"/>
          </a:solidFill>
          <a:ln w="12700">
            <a:solidFill>
              <a:srgbClr val="52B5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4008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taking the time to go through this.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8046720" cy="36576"/>
          </a:xfrm>
          <a:prstGeom prst="rect">
            <a:avLst/>
          </a:prstGeom>
          <a:solidFill>
            <a:srgbClr val="52B5A8"/>
          </a:solidFill>
          <a:ln w="12700">
            <a:solidFill>
              <a:srgbClr val="52B5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1031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project is live on GitHub: </a:t>
            </a:r>
            <a:pPr indent="0" marL="0">
              <a:buNone/>
            </a:pPr>
            <a:r>
              <a:rPr lang="en-US" sz="12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github.com/rupsa723/ga4-funnel-analysis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 the repo: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94436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BigQuery SQL files — fully commented with business 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2644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data preparation script (pandas pipeline)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58444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 (.pbix)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390448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AA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documentation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Rupsa Chaudhuri  |  Data Analyst  |  github.com/rupsa723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GA4 Digital Marketing Funnel Analysis</dc:title>
  <dc:subject>PptxGenJS Presentation</dc:subject>
  <dc:creator>Rupsa Chaudhuri</dc:creator>
  <cp:lastModifiedBy>Rupsa Chaudhuri</cp:lastModifiedBy>
  <cp:revision>1</cp:revision>
  <dcterms:created xsi:type="dcterms:W3CDTF">2026-04-12T12:10:30Z</dcterms:created>
  <dcterms:modified xsi:type="dcterms:W3CDTF">2026-04-12T12:10:30Z</dcterms:modified>
</cp:coreProperties>
</file>